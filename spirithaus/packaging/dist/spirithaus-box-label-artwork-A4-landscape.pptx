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SPIRITHAUS A4 LANDSCAPE box label — bone. 297 x 210mm.
Address panel left, order fields right, statutory notice across the footer.
Confirm the return-address block and the Liquor
Act wording with your licensing advisor before 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SPIRITHAUS A4 LANDSCAPE box label — ink. 297 x 210mm.
Address panel left, order fields right, statutory notice across the footer.
Confirm the return-address block and the Liquor
Act wording with your licensing advisor before 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SPIRITHAUS A4 LANDSCAPE box artwork — ink. 297 x 210mm.
Premium outer face: no address or despatch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SPIRITHAUS A4 LANDSCAPE box artwork — bone. 297 x 210mm.
Premium outer face: no address or despatch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user/Lakhman/spirithaus/packaging/assets/mark-ink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7524000" y="2376000"/>
            <a:ext cx="4248000" cy="4320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0692000" cy="1512000"/>
          </a:xfrm>
          <a:prstGeom prst="rect">
            <a:avLst/>
          </a:prstGeom>
          <a:solidFill>
            <a:srgbClr val="11111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1" descr="/home/user/Lakhman/spirithaus/packaging/assets/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432000"/>
            <a:ext cx="4017600" cy="406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6000" y="946800"/>
            <a:ext cx="43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spc="350" kern="0" dirty="0">
                <a:solidFill>
                  <a:srgbClr val="9D9B9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SPIRITS  ·  WINE  ·  COCKTAILS</a:t>
            </a:r>
            <a:endParaRPr lang="en-US" sz="710" dirty="0"/>
          </a:p>
        </p:txBody>
      </p:sp>
      <p:sp>
        <p:nvSpPr>
          <p:cNvPr id="7" name="Shape 2"/>
          <p:cNvSpPr/>
          <p:nvPr/>
        </p:nvSpPr>
        <p:spPr>
          <a:xfrm>
            <a:off x="8748000" y="396000"/>
            <a:ext cx="1368000" cy="720000"/>
          </a:xfrm>
          <a:prstGeom prst="rect">
            <a:avLst/>
          </a:prstGeom>
          <a:ln w="16510">
            <a:solidFill>
              <a:srgbClr val="67656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748000" y="496800"/>
            <a:ext cx="136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60" kern="0" dirty="0">
                <a:solidFill>
                  <a:srgbClr val="98969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CARTON</a:t>
            </a:r>
            <a:endParaRPr lang="en-US" sz="650" dirty="0"/>
          </a:p>
        </p:txBody>
      </p:sp>
      <p:sp>
        <p:nvSpPr>
          <p:cNvPr id="9" name="Text 4"/>
          <p:cNvSpPr txBox="1"/>
          <p:nvPr/>
        </p:nvSpPr>
        <p:spPr>
          <a:xfrm>
            <a:off x="8748000" y="684000"/>
            <a:ext cx="136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6B6A6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endParaRPr lang="en-US" sz="1980" dirty="0"/>
          </a:p>
        </p:txBody>
      </p:sp>
      <p:sp>
        <p:nvSpPr>
          <p:cNvPr id="10" name="Shape 5"/>
          <p:cNvSpPr/>
          <p:nvPr/>
        </p:nvSpPr>
        <p:spPr>
          <a:xfrm>
            <a:off x="8856000" y="954000"/>
            <a:ext cx="360000" cy="0"/>
          </a:xfrm>
          <a:prstGeom prst="line">
            <a:avLst/>
          </a:prstGeom>
          <a:noFill/>
          <a:ln w="16510">
            <a:solidFill>
              <a:srgbClr val="82807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648000" y="954000"/>
            <a:ext cx="360000" cy="0"/>
          </a:xfrm>
          <a:prstGeom prst="line">
            <a:avLst/>
          </a:prstGeom>
          <a:noFill/>
          <a:ln w="16510">
            <a:solidFill>
              <a:srgbClr val="82807D"/>
            </a:solidFill>
            <a:prstDash val="solid"/>
          </a:ln>
        </p:spPr>
      </p:sp>
      <p:pic>
        <p:nvPicPr>
          <p:cNvPr id="12" name="Image 2" descr="/home/user/Lakhman/spirithaus/packaging/assets/fragile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00" y="1764000"/>
            <a:ext cx="203400" cy="3600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24000" y="1800000"/>
            <a:ext cx="24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b="1" spc="30" kern="0" dirty="0">
                <a:solidFill>
                  <a:srgbClr val="1111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FRAGILE</a:t>
            </a:r>
            <a:endParaRPr lang="en-US" sz="1190" dirty="0"/>
          </a:p>
        </p:txBody>
      </p:sp>
      <p:sp>
        <p:nvSpPr>
          <p:cNvPr id="14" name="Text 8"/>
          <p:cNvSpPr txBox="1"/>
          <p:nvPr/>
        </p:nvSpPr>
        <p:spPr>
          <a:xfrm>
            <a:off x="1224000" y="2016000"/>
            <a:ext cx="24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spc="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GLASS · HANDLE WITH CARE</a:t>
            </a:r>
            <a:endParaRPr lang="en-US" sz="620" dirty="0"/>
          </a:p>
        </p:txBody>
      </p:sp>
      <p:pic>
        <p:nvPicPr>
          <p:cNvPr id="15" name="Image 3" descr="/home/user/Lakhman/spirithaus/packaging/assets/up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660" y="1764000"/>
            <a:ext cx="292680" cy="3600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404000" y="1800000"/>
            <a:ext cx="24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b="1" spc="30" kern="0" dirty="0">
                <a:solidFill>
                  <a:srgbClr val="1111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THIS WAY UP</a:t>
            </a:r>
            <a:endParaRPr lang="en-US" sz="1190" dirty="0"/>
          </a:p>
        </p:txBody>
      </p:sp>
      <p:sp>
        <p:nvSpPr>
          <p:cNvPr id="17" name="Text 10"/>
          <p:cNvSpPr txBox="1"/>
          <p:nvPr/>
        </p:nvSpPr>
        <p:spPr>
          <a:xfrm>
            <a:off x="4404000" y="2016000"/>
            <a:ext cx="24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spc="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DO NOT INVERT · DO NOT STACK</a:t>
            </a:r>
            <a:endParaRPr lang="en-US" sz="620" dirty="0"/>
          </a:p>
        </p:txBody>
      </p:sp>
      <p:sp>
        <p:nvSpPr>
          <p:cNvPr id="18" name="Shape 11"/>
          <p:cNvSpPr/>
          <p:nvPr/>
        </p:nvSpPr>
        <p:spPr>
          <a:xfrm>
            <a:off x="3756000" y="1512000"/>
            <a:ext cx="0" cy="864000"/>
          </a:xfrm>
          <a:prstGeom prst="line">
            <a:avLst/>
          </a:prstGeom>
          <a:noFill/>
          <a:ln w="10160">
            <a:solidFill>
              <a:srgbClr val="C1BEB9"/>
            </a:solidFill>
            <a:prstDash val="solid"/>
          </a:ln>
        </p:spPr>
      </p:sp>
      <p:pic>
        <p:nvPicPr>
          <p:cNvPr id="19" name="Image 4" descr="/home/user/Lakhman/spirithaus/packaging/assets/dry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7600" y="1764000"/>
            <a:ext cx="352800" cy="3600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584000" y="1800000"/>
            <a:ext cx="24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b="1" spc="30" kern="0" dirty="0">
                <a:solidFill>
                  <a:srgbClr val="1111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DRY</a:t>
            </a:r>
            <a:endParaRPr lang="en-US" sz="1190" dirty="0"/>
          </a:p>
        </p:txBody>
      </p:sp>
      <p:sp>
        <p:nvSpPr>
          <p:cNvPr id="21" name="Text 13"/>
          <p:cNvSpPr txBox="1"/>
          <p:nvPr/>
        </p:nvSpPr>
        <p:spPr>
          <a:xfrm>
            <a:off x="7584000" y="2016000"/>
            <a:ext cx="24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spc="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STORE UPRIGHT · AWAY FROM HEAT</a:t>
            </a:r>
            <a:endParaRPr lang="en-US" sz="620" dirty="0"/>
          </a:p>
        </p:txBody>
      </p:sp>
      <p:sp>
        <p:nvSpPr>
          <p:cNvPr id="22" name="Shape 14"/>
          <p:cNvSpPr/>
          <p:nvPr/>
        </p:nvSpPr>
        <p:spPr>
          <a:xfrm>
            <a:off x="6936000" y="1512000"/>
            <a:ext cx="0" cy="864000"/>
          </a:xfrm>
          <a:prstGeom prst="line">
            <a:avLst/>
          </a:prstGeom>
          <a:noFill/>
          <a:ln w="10160">
            <a:solidFill>
              <a:srgbClr val="C1BEB9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0" y="2376000"/>
            <a:ext cx="10692000" cy="0"/>
          </a:xfrm>
          <a:prstGeom prst="line">
            <a:avLst/>
          </a:prstGeom>
          <a:noFill/>
          <a:ln w="13970">
            <a:solidFill>
              <a:srgbClr val="C1BEB9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376000"/>
            <a:ext cx="10692000" cy="576000"/>
          </a:xfrm>
          <a:prstGeom prst="rect">
            <a:avLst/>
          </a:prstGeom>
          <a:solidFill>
            <a:srgbClr val="CF1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2484000" y="2448000"/>
            <a:ext cx="432000" cy="432000"/>
          </a:xfrm>
          <a:prstGeom prst="ellipse">
            <a:avLst/>
          </a:prstGeom>
          <a:ln w="24130">
            <a:solidFill>
              <a:srgbClr val="FFFFFF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2484000" y="2541600"/>
            <a:ext cx="432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7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2270" dirty="0"/>
          </a:p>
        </p:txBody>
      </p:sp>
      <p:sp>
        <p:nvSpPr>
          <p:cNvPr id="27" name="Text 19"/>
          <p:cNvSpPr txBox="1"/>
          <p:nvPr/>
        </p:nvSpPr>
        <p:spPr>
          <a:xfrm>
            <a:off x="3096000" y="2498400"/>
            <a:ext cx="540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CONTAINS ALCOHOL · ID REQUIRED ON DELIVERY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3096000" y="2736000"/>
            <a:ext cx="57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10" kern="0" dirty="0">
                <a:solidFill>
                  <a:srgbClr val="F3C6C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MUST NOT BE LEFT UNATTENDED · DO NOT SUPPLY TO A MINOR OR AN INTOXICATED PERSON</a:t>
            </a:r>
            <a:endParaRPr lang="en-US" sz="680" dirty="0"/>
          </a:p>
        </p:txBody>
      </p:sp>
      <p:sp>
        <p:nvSpPr>
          <p:cNvPr id="29" name="Text 21"/>
          <p:cNvSpPr txBox="1"/>
          <p:nvPr/>
        </p:nvSpPr>
        <p:spPr>
          <a:xfrm>
            <a:off x="576000" y="3240000"/>
            <a:ext cx="60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28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DELIVER TO </a:t>
            </a:r>
            <a:pPr indent="0" marL="0">
              <a:buNone/>
            </a:pPr>
            <a:r>
              <a:rPr lang="en-US" sz="820" b="1" spc="280" kern="0" dirty="0">
                <a:solidFill>
                  <a:srgbClr val="CF1C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</a:t>
            </a:r>
            <a:pPr indent="0" marL="0">
              <a:buNone/>
            </a:pPr>
            <a:r>
              <a:rPr lang="en-US" sz="820" b="1" spc="28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SIGNATURE REQUIRED</a:t>
            </a:r>
            <a:endParaRPr lang="en-US" sz="820" dirty="0"/>
          </a:p>
        </p:txBody>
      </p:sp>
      <p:sp>
        <p:nvSpPr>
          <p:cNvPr id="30" name="Shape 22"/>
          <p:cNvSpPr/>
          <p:nvPr/>
        </p:nvSpPr>
        <p:spPr>
          <a:xfrm>
            <a:off x="576000" y="4037760"/>
            <a:ext cx="601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76000" y="4504320"/>
            <a:ext cx="601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576000" y="4970880"/>
            <a:ext cx="601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576000" y="5437440"/>
            <a:ext cx="601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76000" y="5904000"/>
            <a:ext cx="601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948000" y="3024000"/>
            <a:ext cx="0" cy="2880000"/>
          </a:xfrm>
          <a:prstGeom prst="line">
            <a:avLst/>
          </a:prstGeom>
          <a:noFill/>
          <a:ln w="10160">
            <a:solidFill>
              <a:srgbClr val="C1BEB9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308000" y="3582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ORDER No.</a:t>
            </a:r>
            <a:endParaRPr lang="en-US" sz="680" dirty="0"/>
          </a:p>
        </p:txBody>
      </p:sp>
      <p:sp>
        <p:nvSpPr>
          <p:cNvPr id="37" name="Shape 29"/>
          <p:cNvSpPr/>
          <p:nvPr/>
        </p:nvSpPr>
        <p:spPr>
          <a:xfrm>
            <a:off x="7308000" y="3870000"/>
            <a:ext cx="2808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308000" y="4248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DESPATCH DATE</a:t>
            </a:r>
            <a:endParaRPr lang="en-US" sz="680" dirty="0"/>
          </a:p>
        </p:txBody>
      </p:sp>
      <p:sp>
        <p:nvSpPr>
          <p:cNvPr id="39" name="Shape 31"/>
          <p:cNvSpPr/>
          <p:nvPr/>
        </p:nvSpPr>
        <p:spPr>
          <a:xfrm>
            <a:off x="7308000" y="4536000"/>
            <a:ext cx="2808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7308000" y="4914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ITEMS IN CARTON</a:t>
            </a:r>
            <a:endParaRPr lang="en-US" sz="680" dirty="0"/>
          </a:p>
        </p:txBody>
      </p:sp>
      <p:sp>
        <p:nvSpPr>
          <p:cNvPr id="41" name="Shape 33"/>
          <p:cNvSpPr/>
          <p:nvPr/>
        </p:nvSpPr>
        <p:spPr>
          <a:xfrm>
            <a:off x="7308000" y="5202000"/>
            <a:ext cx="2808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7308000" y="5580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PACKED BY</a:t>
            </a:r>
            <a:endParaRPr lang="en-US" sz="680" dirty="0"/>
          </a:p>
        </p:txBody>
      </p:sp>
      <p:sp>
        <p:nvSpPr>
          <p:cNvPr id="43" name="Shape 35"/>
          <p:cNvSpPr/>
          <p:nvPr/>
        </p:nvSpPr>
        <p:spPr>
          <a:xfrm>
            <a:off x="7308000" y="5868000"/>
            <a:ext cx="2808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0" y="6192000"/>
            <a:ext cx="10692000" cy="1368000"/>
          </a:xfrm>
          <a:prstGeom prst="rect">
            <a:avLst/>
          </a:prstGeom>
          <a:solidFill>
            <a:srgbClr val="1111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576000" y="6390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spc="240" kern="0" dirty="0">
                <a:solidFill>
                  <a:srgbClr val="8D8B8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RETURN TO SENDER</a:t>
            </a:r>
            <a:endParaRPr lang="en-US" sz="710" dirty="0"/>
          </a:p>
        </p:txBody>
      </p:sp>
      <p:sp>
        <p:nvSpPr>
          <p:cNvPr id="46" name="Text 38"/>
          <p:cNvSpPr txBox="1"/>
          <p:nvPr/>
        </p:nvSpPr>
        <p:spPr>
          <a:xfrm>
            <a:off x="576000" y="6606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2EF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SPIRITHAUS</a:t>
            </a:r>
            <a:endParaRPr lang="en-US" sz="960" dirty="0"/>
          </a:p>
        </p:txBody>
      </p:sp>
      <p:sp>
        <p:nvSpPr>
          <p:cNvPr id="47" name="Text 39"/>
          <p:cNvSpPr txBox="1"/>
          <p:nvPr/>
        </p:nvSpPr>
        <p:spPr>
          <a:xfrm>
            <a:off x="576000" y="6822000"/>
            <a:ext cx="324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680" spc="60" kern="0" dirty="0">
                <a:solidFill>
                  <a:srgbClr val="B3B1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SYDNEY NSW AUSTRALIA</a:t>
            </a:r>
            <a:endParaRPr lang="en-US" sz="68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680" spc="60" kern="0" dirty="0">
                <a:solidFill>
                  <a:srgbClr val="B3B1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0452 480 487  ·  sales@spirithaus.com.au</a:t>
            </a:r>
            <a:endParaRPr lang="en-US" sz="680" dirty="0"/>
          </a:p>
        </p:txBody>
      </p:sp>
      <p:sp>
        <p:nvSpPr>
          <p:cNvPr id="48" name="Text 40"/>
          <p:cNvSpPr txBox="1"/>
          <p:nvPr/>
        </p:nvSpPr>
        <p:spPr>
          <a:xfrm>
            <a:off x="4032000" y="6390000"/>
            <a:ext cx="32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10" kern="0" dirty="0">
                <a:solidFill>
                  <a:srgbClr val="F2EF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LIQUOR ACT 2007 (NSW)</a:t>
            </a:r>
            <a:endParaRPr lang="en-US" sz="670" dirty="0"/>
          </a:p>
        </p:txBody>
      </p:sp>
      <p:sp>
        <p:nvSpPr>
          <p:cNvPr id="49" name="Text 41"/>
          <p:cNvSpPr txBox="1"/>
          <p:nvPr/>
        </p:nvSpPr>
        <p:spPr>
          <a:xfrm>
            <a:off x="4032000" y="6570000"/>
            <a:ext cx="3636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650" spc="40" kern="0" dirty="0">
                <a:solidFill>
                  <a:srgbClr val="B3B1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 is against the law to sell or supply alcohol to, or to obtain alcohol on behalf of, a person under the age of 18 years.</a:t>
            </a:r>
            <a:endParaRPr lang="en-US" sz="6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650" spc="40" kern="0" dirty="0">
                <a:solidFill>
                  <a:srgbClr val="B3B1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Photo ID must be sighted on delivery. If no person aged 18 or over is present to receive and sign for this consignment, it must not be left — return to depot.</a:t>
            </a:r>
            <a:endParaRPr lang="en-US" sz="650" dirty="0"/>
          </a:p>
        </p:txBody>
      </p:sp>
      <p:sp>
        <p:nvSpPr>
          <p:cNvPr id="50" name="Text 42"/>
          <p:cNvSpPr txBox="1"/>
          <p:nvPr/>
        </p:nvSpPr>
        <p:spPr>
          <a:xfrm>
            <a:off x="7308000" y="6390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10" kern="0" dirty="0">
                <a:solidFill>
                  <a:srgbClr val="B3B1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PACKAGED LIQUOR LICENCE (NSW)</a:t>
            </a:r>
            <a:endParaRPr lang="en-US" sz="600" dirty="0"/>
          </a:p>
        </p:txBody>
      </p:sp>
      <p:sp>
        <p:nvSpPr>
          <p:cNvPr id="51" name="Text 43"/>
          <p:cNvSpPr txBox="1"/>
          <p:nvPr/>
        </p:nvSpPr>
        <p:spPr>
          <a:xfrm>
            <a:off x="7308000" y="6523200"/>
            <a:ext cx="280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10" b="1" spc="90" kern="0" dirty="0">
                <a:solidFill>
                  <a:srgbClr val="F2EF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LIQP700301260</a:t>
            </a:r>
            <a:endParaRPr lang="en-US" sz="910" dirty="0"/>
          </a:p>
        </p:txBody>
      </p:sp>
      <p:sp>
        <p:nvSpPr>
          <p:cNvPr id="52" name="Text 44"/>
          <p:cNvSpPr txBox="1"/>
          <p:nvPr/>
        </p:nvSpPr>
        <p:spPr>
          <a:xfrm>
            <a:off x="8028000" y="6840000"/>
            <a:ext cx="10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80" kern="0" dirty="0">
                <a:solidFill>
                  <a:srgbClr val="B3B1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ABN</a:t>
            </a:r>
            <a:endParaRPr lang="en-US" sz="650" dirty="0"/>
          </a:p>
        </p:txBody>
      </p:sp>
      <p:sp>
        <p:nvSpPr>
          <p:cNvPr id="53" name="Shape 45"/>
          <p:cNvSpPr/>
          <p:nvPr/>
        </p:nvSpPr>
        <p:spPr>
          <a:xfrm>
            <a:off x="9180000" y="6962400"/>
            <a:ext cx="936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8028000" y="7038000"/>
            <a:ext cx="10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80" kern="0" dirty="0">
                <a:solidFill>
                  <a:srgbClr val="B3B1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CONSIGNMENT</a:t>
            </a:r>
            <a:endParaRPr lang="en-US" sz="650" dirty="0"/>
          </a:p>
        </p:txBody>
      </p:sp>
      <p:sp>
        <p:nvSpPr>
          <p:cNvPr id="55" name="Shape 47"/>
          <p:cNvSpPr/>
          <p:nvPr/>
        </p:nvSpPr>
        <p:spPr>
          <a:xfrm>
            <a:off x="9180000" y="7160400"/>
            <a:ext cx="936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user/Lakhman/spirithaus/packaging/assets/mark-white.png">    </p:cNvPr>
          <p:cNvPicPr>
            <a:picLocks noChangeAspect="1"/>
          </p:cNvPicPr>
          <p:nvPr/>
        </p:nvPicPr>
        <p:blipFill>
          <a:blip r:embed="rId1">
            <a:alphaModFix amt="4500"/>
          </a:blip>
          <a:stretch>
            <a:fillRect/>
          </a:stretch>
        </p:blipFill>
        <p:spPr>
          <a:xfrm>
            <a:off x="7524000" y="2376000"/>
            <a:ext cx="4248000" cy="4320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0692000" cy="1512000"/>
          </a:xfrm>
          <a:prstGeom prst="rect">
            <a:avLst/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1" descr="/home/user/Lakhman/spirithaus/packaging/assets/wordmark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432000"/>
            <a:ext cx="4017600" cy="406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6000" y="946800"/>
            <a:ext cx="43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spc="350" kern="0" dirty="0">
                <a:solidFill>
                  <a:srgbClr val="67656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SPIRITS  ·  WINE  ·  COCKTAILS</a:t>
            </a:r>
            <a:endParaRPr lang="en-US" sz="710" dirty="0"/>
          </a:p>
        </p:txBody>
      </p:sp>
      <p:sp>
        <p:nvSpPr>
          <p:cNvPr id="7" name="Shape 2"/>
          <p:cNvSpPr/>
          <p:nvPr/>
        </p:nvSpPr>
        <p:spPr>
          <a:xfrm>
            <a:off x="8748000" y="396000"/>
            <a:ext cx="1368000" cy="720000"/>
          </a:xfrm>
          <a:prstGeom prst="rect">
            <a:avLst/>
          </a:prstGeom>
          <a:ln w="16510">
            <a:solidFill>
              <a:srgbClr val="9D9B97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748000" y="496800"/>
            <a:ext cx="136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60" kern="0" dirty="0">
                <a:solidFill>
                  <a:srgbClr val="6B6A6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CARTON</a:t>
            </a:r>
            <a:endParaRPr lang="en-US" sz="650" dirty="0"/>
          </a:p>
        </p:txBody>
      </p:sp>
      <p:sp>
        <p:nvSpPr>
          <p:cNvPr id="9" name="Text 4"/>
          <p:cNvSpPr txBox="1"/>
          <p:nvPr/>
        </p:nvSpPr>
        <p:spPr>
          <a:xfrm>
            <a:off x="8748000" y="684000"/>
            <a:ext cx="136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98969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endParaRPr lang="en-US" sz="1980" dirty="0"/>
          </a:p>
        </p:txBody>
      </p:sp>
      <p:sp>
        <p:nvSpPr>
          <p:cNvPr id="10" name="Shape 5"/>
          <p:cNvSpPr/>
          <p:nvPr/>
        </p:nvSpPr>
        <p:spPr>
          <a:xfrm>
            <a:off x="8856000" y="954000"/>
            <a:ext cx="360000" cy="0"/>
          </a:xfrm>
          <a:prstGeom prst="line">
            <a:avLst/>
          </a:prstGeom>
          <a:noFill/>
          <a:ln w="16510">
            <a:solidFill>
              <a:srgbClr val="82807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648000" y="954000"/>
            <a:ext cx="360000" cy="0"/>
          </a:xfrm>
          <a:prstGeom prst="line">
            <a:avLst/>
          </a:prstGeom>
          <a:noFill/>
          <a:ln w="16510">
            <a:solidFill>
              <a:srgbClr val="82807D"/>
            </a:solidFill>
            <a:prstDash val="solid"/>
          </a:ln>
        </p:spPr>
      </p:sp>
      <p:pic>
        <p:nvPicPr>
          <p:cNvPr id="12" name="Image 2" descr="/home/user/Lakhman/spirithaus/packaging/assets/fragi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00" y="1764000"/>
            <a:ext cx="203400" cy="3600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24000" y="1800000"/>
            <a:ext cx="24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b="1" spc="30" kern="0" dirty="0">
                <a:solidFill>
                  <a:srgbClr val="F2EF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FRAGILE</a:t>
            </a:r>
            <a:endParaRPr lang="en-US" sz="1190" dirty="0"/>
          </a:p>
        </p:txBody>
      </p:sp>
      <p:sp>
        <p:nvSpPr>
          <p:cNvPr id="14" name="Text 8"/>
          <p:cNvSpPr txBox="1"/>
          <p:nvPr/>
        </p:nvSpPr>
        <p:spPr>
          <a:xfrm>
            <a:off x="1224000" y="2016000"/>
            <a:ext cx="24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spc="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GLASS · HANDLE WITH CARE</a:t>
            </a:r>
            <a:endParaRPr lang="en-US" sz="620" dirty="0"/>
          </a:p>
        </p:txBody>
      </p:sp>
      <p:pic>
        <p:nvPicPr>
          <p:cNvPr id="15" name="Image 3" descr="/home/user/Lakhman/spirithaus/packaging/assets/up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660" y="1764000"/>
            <a:ext cx="292680" cy="3600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404000" y="1800000"/>
            <a:ext cx="24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b="1" spc="30" kern="0" dirty="0">
                <a:solidFill>
                  <a:srgbClr val="F2EF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THIS WAY UP</a:t>
            </a:r>
            <a:endParaRPr lang="en-US" sz="1190" dirty="0"/>
          </a:p>
        </p:txBody>
      </p:sp>
      <p:sp>
        <p:nvSpPr>
          <p:cNvPr id="17" name="Text 10"/>
          <p:cNvSpPr txBox="1"/>
          <p:nvPr/>
        </p:nvSpPr>
        <p:spPr>
          <a:xfrm>
            <a:off x="4404000" y="2016000"/>
            <a:ext cx="24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spc="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DO NOT INVERT · DO NOT STACK</a:t>
            </a:r>
            <a:endParaRPr lang="en-US" sz="620" dirty="0"/>
          </a:p>
        </p:txBody>
      </p:sp>
      <p:sp>
        <p:nvSpPr>
          <p:cNvPr id="18" name="Shape 11"/>
          <p:cNvSpPr/>
          <p:nvPr/>
        </p:nvSpPr>
        <p:spPr>
          <a:xfrm>
            <a:off x="3756000" y="1512000"/>
            <a:ext cx="0" cy="864000"/>
          </a:xfrm>
          <a:prstGeom prst="line">
            <a:avLst/>
          </a:prstGeom>
          <a:noFill/>
          <a:ln w="10160">
            <a:solidFill>
              <a:srgbClr val="434240"/>
            </a:solidFill>
            <a:prstDash val="solid"/>
          </a:ln>
        </p:spPr>
      </p:sp>
      <p:pic>
        <p:nvPicPr>
          <p:cNvPr id="19" name="Image 4" descr="/home/user/Lakhman/spirithaus/packaging/assets/dry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7600" y="1764000"/>
            <a:ext cx="352800" cy="3600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584000" y="1800000"/>
            <a:ext cx="24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b="1" spc="30" kern="0" dirty="0">
                <a:solidFill>
                  <a:srgbClr val="F2EF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DRY</a:t>
            </a:r>
            <a:endParaRPr lang="en-US" sz="1190" dirty="0"/>
          </a:p>
        </p:txBody>
      </p:sp>
      <p:sp>
        <p:nvSpPr>
          <p:cNvPr id="21" name="Text 13"/>
          <p:cNvSpPr txBox="1"/>
          <p:nvPr/>
        </p:nvSpPr>
        <p:spPr>
          <a:xfrm>
            <a:off x="7584000" y="2016000"/>
            <a:ext cx="24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spc="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STORE UPRIGHT · AWAY FROM HEAT</a:t>
            </a:r>
            <a:endParaRPr lang="en-US" sz="620" dirty="0"/>
          </a:p>
        </p:txBody>
      </p:sp>
      <p:sp>
        <p:nvSpPr>
          <p:cNvPr id="22" name="Shape 14"/>
          <p:cNvSpPr/>
          <p:nvPr/>
        </p:nvSpPr>
        <p:spPr>
          <a:xfrm>
            <a:off x="6936000" y="1512000"/>
            <a:ext cx="0" cy="864000"/>
          </a:xfrm>
          <a:prstGeom prst="line">
            <a:avLst/>
          </a:prstGeom>
          <a:noFill/>
          <a:ln w="10160">
            <a:solidFill>
              <a:srgbClr val="43424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0" y="2376000"/>
            <a:ext cx="10692000" cy="0"/>
          </a:xfrm>
          <a:prstGeom prst="line">
            <a:avLst/>
          </a:prstGeom>
          <a:noFill/>
          <a:ln w="13970">
            <a:solidFill>
              <a:srgbClr val="43424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376000"/>
            <a:ext cx="10692000" cy="576000"/>
          </a:xfrm>
          <a:prstGeom prst="rect">
            <a:avLst/>
          </a:prstGeom>
          <a:solidFill>
            <a:srgbClr val="CF1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2484000" y="2448000"/>
            <a:ext cx="432000" cy="432000"/>
          </a:xfrm>
          <a:prstGeom prst="ellipse">
            <a:avLst/>
          </a:prstGeom>
          <a:ln w="24130">
            <a:solidFill>
              <a:srgbClr val="FFFFFF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2484000" y="2541600"/>
            <a:ext cx="432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7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2270" dirty="0"/>
          </a:p>
        </p:txBody>
      </p:sp>
      <p:sp>
        <p:nvSpPr>
          <p:cNvPr id="27" name="Text 19"/>
          <p:cNvSpPr txBox="1"/>
          <p:nvPr/>
        </p:nvSpPr>
        <p:spPr>
          <a:xfrm>
            <a:off x="3096000" y="2498400"/>
            <a:ext cx="540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CONTAINS ALCOHOL · ID REQUIRED ON DELIVERY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3096000" y="2736000"/>
            <a:ext cx="57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10" kern="0" dirty="0">
                <a:solidFill>
                  <a:srgbClr val="F3C6C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MUST NOT BE LEFT UNATTENDED · DO NOT SUPPLY TO A MINOR OR AN INTOXICATED PERSON</a:t>
            </a:r>
            <a:endParaRPr lang="en-US" sz="680" dirty="0"/>
          </a:p>
        </p:txBody>
      </p:sp>
      <p:sp>
        <p:nvSpPr>
          <p:cNvPr id="29" name="Text 21"/>
          <p:cNvSpPr txBox="1"/>
          <p:nvPr/>
        </p:nvSpPr>
        <p:spPr>
          <a:xfrm>
            <a:off x="576000" y="3240000"/>
            <a:ext cx="60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28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DELIVER TO </a:t>
            </a:r>
            <a:pPr indent="0" marL="0">
              <a:buNone/>
            </a:pPr>
            <a:r>
              <a:rPr lang="en-US" sz="820" b="1" spc="280" kern="0" dirty="0">
                <a:solidFill>
                  <a:srgbClr val="CF1C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</a:t>
            </a:r>
            <a:pPr indent="0" marL="0">
              <a:buNone/>
            </a:pPr>
            <a:r>
              <a:rPr lang="en-US" sz="820" b="1" spc="28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SIGNATURE REQUIRED</a:t>
            </a:r>
            <a:endParaRPr lang="en-US" sz="820" dirty="0"/>
          </a:p>
        </p:txBody>
      </p:sp>
      <p:sp>
        <p:nvSpPr>
          <p:cNvPr id="30" name="Shape 22"/>
          <p:cNvSpPr/>
          <p:nvPr/>
        </p:nvSpPr>
        <p:spPr>
          <a:xfrm>
            <a:off x="576000" y="4037760"/>
            <a:ext cx="601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76000" y="4504320"/>
            <a:ext cx="601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576000" y="4970880"/>
            <a:ext cx="601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576000" y="5437440"/>
            <a:ext cx="601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76000" y="5904000"/>
            <a:ext cx="601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948000" y="3024000"/>
            <a:ext cx="0" cy="2880000"/>
          </a:xfrm>
          <a:prstGeom prst="line">
            <a:avLst/>
          </a:prstGeom>
          <a:noFill/>
          <a:ln w="10160">
            <a:solidFill>
              <a:srgbClr val="434240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308000" y="3582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ORDER No.</a:t>
            </a:r>
            <a:endParaRPr lang="en-US" sz="680" dirty="0"/>
          </a:p>
        </p:txBody>
      </p:sp>
      <p:sp>
        <p:nvSpPr>
          <p:cNvPr id="37" name="Shape 29"/>
          <p:cNvSpPr/>
          <p:nvPr/>
        </p:nvSpPr>
        <p:spPr>
          <a:xfrm>
            <a:off x="7308000" y="3870000"/>
            <a:ext cx="2808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308000" y="4248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DESPATCH DATE</a:t>
            </a:r>
            <a:endParaRPr lang="en-US" sz="680" dirty="0"/>
          </a:p>
        </p:txBody>
      </p:sp>
      <p:sp>
        <p:nvSpPr>
          <p:cNvPr id="39" name="Shape 31"/>
          <p:cNvSpPr/>
          <p:nvPr/>
        </p:nvSpPr>
        <p:spPr>
          <a:xfrm>
            <a:off x="7308000" y="4536000"/>
            <a:ext cx="2808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7308000" y="4914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ITEMS IN CARTON</a:t>
            </a:r>
            <a:endParaRPr lang="en-US" sz="680" dirty="0"/>
          </a:p>
        </p:txBody>
      </p:sp>
      <p:sp>
        <p:nvSpPr>
          <p:cNvPr id="41" name="Shape 33"/>
          <p:cNvSpPr/>
          <p:nvPr/>
        </p:nvSpPr>
        <p:spPr>
          <a:xfrm>
            <a:off x="7308000" y="5202000"/>
            <a:ext cx="2808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7308000" y="5580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PACKED BY</a:t>
            </a:r>
            <a:endParaRPr lang="en-US" sz="680" dirty="0"/>
          </a:p>
        </p:txBody>
      </p:sp>
      <p:sp>
        <p:nvSpPr>
          <p:cNvPr id="43" name="Shape 35"/>
          <p:cNvSpPr/>
          <p:nvPr/>
        </p:nvSpPr>
        <p:spPr>
          <a:xfrm>
            <a:off x="7308000" y="5868000"/>
            <a:ext cx="2808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0" y="6192000"/>
            <a:ext cx="10692000" cy="1368000"/>
          </a:xfrm>
          <a:prstGeom prst="rect">
            <a:avLst/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576000" y="6390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spc="240" kern="0" dirty="0">
                <a:solidFill>
                  <a:srgbClr val="76757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RETURN TO SENDER</a:t>
            </a:r>
            <a:endParaRPr lang="en-US" sz="710" dirty="0"/>
          </a:p>
        </p:txBody>
      </p:sp>
      <p:sp>
        <p:nvSpPr>
          <p:cNvPr id="46" name="Text 38"/>
          <p:cNvSpPr txBox="1"/>
          <p:nvPr/>
        </p:nvSpPr>
        <p:spPr>
          <a:xfrm>
            <a:off x="576000" y="6606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1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SPIRITHAUS</a:t>
            </a:r>
            <a:endParaRPr lang="en-US" sz="960" dirty="0"/>
          </a:p>
        </p:txBody>
      </p:sp>
      <p:sp>
        <p:nvSpPr>
          <p:cNvPr id="47" name="Text 39"/>
          <p:cNvSpPr txBox="1"/>
          <p:nvPr/>
        </p:nvSpPr>
        <p:spPr>
          <a:xfrm>
            <a:off x="576000" y="6822000"/>
            <a:ext cx="324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680" spc="60" kern="0" dirty="0">
                <a:solidFill>
                  <a:srgbClr val="504F4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SYDNEY NSW AUSTRALIA</a:t>
            </a:r>
            <a:endParaRPr lang="en-US" sz="68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680" spc="60" kern="0" dirty="0">
                <a:solidFill>
                  <a:srgbClr val="504F4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0452 480 487  ·  sales@spirithaus.com.au</a:t>
            </a:r>
            <a:endParaRPr lang="en-US" sz="680" dirty="0"/>
          </a:p>
        </p:txBody>
      </p:sp>
      <p:sp>
        <p:nvSpPr>
          <p:cNvPr id="48" name="Text 40"/>
          <p:cNvSpPr txBox="1"/>
          <p:nvPr/>
        </p:nvSpPr>
        <p:spPr>
          <a:xfrm>
            <a:off x="4032000" y="6390000"/>
            <a:ext cx="32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10" kern="0" dirty="0">
                <a:solidFill>
                  <a:srgbClr val="1111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LIQUOR ACT 2007 (NSW)</a:t>
            </a:r>
            <a:endParaRPr lang="en-US" sz="670" dirty="0"/>
          </a:p>
        </p:txBody>
      </p:sp>
      <p:sp>
        <p:nvSpPr>
          <p:cNvPr id="49" name="Text 41"/>
          <p:cNvSpPr txBox="1"/>
          <p:nvPr/>
        </p:nvSpPr>
        <p:spPr>
          <a:xfrm>
            <a:off x="4032000" y="6570000"/>
            <a:ext cx="3636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650" spc="40" kern="0" dirty="0">
                <a:solidFill>
                  <a:srgbClr val="504F4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 is against the law to sell or supply alcohol to, or to obtain alcohol on behalf of, a person under the age of 18 years.</a:t>
            </a:r>
            <a:endParaRPr lang="en-US" sz="6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650" spc="40" kern="0" dirty="0">
                <a:solidFill>
                  <a:srgbClr val="504F4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Photo ID must be sighted on delivery. If no person aged 18 or over is present to receive and sign for this consignment, it must not be left — return to depot.</a:t>
            </a:r>
            <a:endParaRPr lang="en-US" sz="650" dirty="0"/>
          </a:p>
        </p:txBody>
      </p:sp>
      <p:sp>
        <p:nvSpPr>
          <p:cNvPr id="50" name="Text 42"/>
          <p:cNvSpPr txBox="1"/>
          <p:nvPr/>
        </p:nvSpPr>
        <p:spPr>
          <a:xfrm>
            <a:off x="7308000" y="63900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10" kern="0" dirty="0">
                <a:solidFill>
                  <a:srgbClr val="504F4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PACKAGED LIQUOR LICENCE (NSW)</a:t>
            </a:r>
            <a:endParaRPr lang="en-US" sz="600" dirty="0"/>
          </a:p>
        </p:txBody>
      </p:sp>
      <p:sp>
        <p:nvSpPr>
          <p:cNvPr id="51" name="Text 43"/>
          <p:cNvSpPr txBox="1"/>
          <p:nvPr/>
        </p:nvSpPr>
        <p:spPr>
          <a:xfrm>
            <a:off x="7308000" y="6523200"/>
            <a:ext cx="280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10" b="1" spc="90" kern="0" dirty="0">
                <a:solidFill>
                  <a:srgbClr val="1111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LIQP700301260</a:t>
            </a:r>
            <a:endParaRPr lang="en-US" sz="910" dirty="0"/>
          </a:p>
        </p:txBody>
      </p:sp>
      <p:sp>
        <p:nvSpPr>
          <p:cNvPr id="52" name="Text 44"/>
          <p:cNvSpPr txBox="1"/>
          <p:nvPr/>
        </p:nvSpPr>
        <p:spPr>
          <a:xfrm>
            <a:off x="8028000" y="6840000"/>
            <a:ext cx="10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80" kern="0" dirty="0">
                <a:solidFill>
                  <a:srgbClr val="504F4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ABN</a:t>
            </a:r>
            <a:endParaRPr lang="en-US" sz="650" dirty="0"/>
          </a:p>
        </p:txBody>
      </p:sp>
      <p:sp>
        <p:nvSpPr>
          <p:cNvPr id="53" name="Shape 45"/>
          <p:cNvSpPr/>
          <p:nvPr/>
        </p:nvSpPr>
        <p:spPr>
          <a:xfrm>
            <a:off x="9180000" y="6962400"/>
            <a:ext cx="936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8028000" y="7038000"/>
            <a:ext cx="10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80" kern="0" dirty="0">
                <a:solidFill>
                  <a:srgbClr val="504F4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CONSIGNMENT</a:t>
            </a:r>
            <a:endParaRPr lang="en-US" sz="650" dirty="0"/>
          </a:p>
        </p:txBody>
      </p:sp>
      <p:sp>
        <p:nvSpPr>
          <p:cNvPr id="55" name="Shape 47"/>
          <p:cNvSpPr/>
          <p:nvPr/>
        </p:nvSpPr>
        <p:spPr>
          <a:xfrm>
            <a:off x="9180000" y="7160400"/>
            <a:ext cx="936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user/Lakhman/spirithaus/packaging/assets/mark-white.png">    </p:cNvPr>
          <p:cNvPicPr>
            <a:picLocks noChangeAspect="1"/>
          </p:cNvPicPr>
          <p:nvPr/>
        </p:nvPicPr>
        <p:blipFill>
          <a:blip r:embed="rId1">
            <a:alphaModFix amt="5500"/>
          </a:blip>
          <a:stretch>
            <a:fillRect/>
          </a:stretch>
        </p:blipFill>
        <p:spPr>
          <a:xfrm>
            <a:off x="6228000" y="-1224000"/>
            <a:ext cx="7056000" cy="7164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20000" y="720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spc="220" kern="0" dirty="0">
                <a:solidFill>
                  <a:srgbClr val="706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SPECIALIST SPIRITS</a:t>
            </a:r>
            <a:endParaRPr lang="en-US" sz="740" dirty="0"/>
          </a:p>
        </p:txBody>
      </p:sp>
      <p:sp>
        <p:nvSpPr>
          <p:cNvPr id="5" name="Text 1"/>
          <p:cNvSpPr txBox="1"/>
          <p:nvPr/>
        </p:nvSpPr>
        <p:spPr>
          <a:xfrm>
            <a:off x="7092000" y="720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spc="220" kern="0" dirty="0">
                <a:solidFill>
                  <a:srgbClr val="706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EST. SYDNEY</a:t>
            </a:r>
            <a:endParaRPr lang="en-US" sz="740" dirty="0"/>
          </a:p>
        </p:txBody>
      </p:sp>
      <p:pic>
        <p:nvPicPr>
          <p:cNvPr id="6" name="Image 1" descr="/home/user/Lakhman/spirithaus/packaging/assets/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000" y="3024000"/>
            <a:ext cx="5742000" cy="579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0000" y="3852000"/>
            <a:ext cx="925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spc="500" kern="0" dirty="0">
                <a:solidFill>
                  <a:srgbClr val="9D9B9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SPIRITS  ·  WINE  ·  COCKTAILS</a:t>
            </a:r>
            <a:endParaRPr lang="en-US" sz="960" dirty="0"/>
          </a:p>
        </p:txBody>
      </p:sp>
      <p:sp>
        <p:nvSpPr>
          <p:cNvPr id="8" name="Shape 3"/>
          <p:cNvSpPr/>
          <p:nvPr/>
        </p:nvSpPr>
        <p:spPr>
          <a:xfrm>
            <a:off x="5022000" y="4500000"/>
            <a:ext cx="648000" cy="32400"/>
          </a:xfrm>
          <a:prstGeom prst="rect">
            <a:avLst/>
          </a:prstGeom>
          <a:solidFill>
            <a:srgbClr val="CF1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20000" y="6660000"/>
            <a:ext cx="9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spc="340" kern="0" dirty="0">
                <a:solidFill>
                  <a:srgbClr val="76757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SYDNEY  ·  AUSTRALIA</a:t>
            </a:r>
            <a:endParaRPr lang="en-US" sz="7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user/Lakhman/spirithaus/packaging/assets/mark-ink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6228000" y="-1224000"/>
            <a:ext cx="7056000" cy="7164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20000" y="720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spc="220" kern="0" dirty="0">
                <a:solidFill>
                  <a:srgbClr val="94928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SPECIALIST SPIRITS</a:t>
            </a:r>
            <a:endParaRPr lang="en-US" sz="740" dirty="0"/>
          </a:p>
        </p:txBody>
      </p:sp>
      <p:sp>
        <p:nvSpPr>
          <p:cNvPr id="5" name="Text 1"/>
          <p:cNvSpPr txBox="1"/>
          <p:nvPr/>
        </p:nvSpPr>
        <p:spPr>
          <a:xfrm>
            <a:off x="7092000" y="720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spc="220" kern="0" dirty="0">
                <a:solidFill>
                  <a:srgbClr val="94928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EST. SYDNEY</a:t>
            </a:r>
            <a:endParaRPr lang="en-US" sz="740" dirty="0"/>
          </a:p>
        </p:txBody>
      </p:sp>
      <p:pic>
        <p:nvPicPr>
          <p:cNvPr id="6" name="Image 1" descr="/home/user/Lakhman/spirithaus/packaging/assets/wordmark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000" y="3024000"/>
            <a:ext cx="5742000" cy="579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0000" y="3852000"/>
            <a:ext cx="925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spc="500" kern="0" dirty="0">
                <a:solidFill>
                  <a:srgbClr val="67656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SPIRITS  ·  WINE  ·  COCKTAILS</a:t>
            </a:r>
            <a:endParaRPr lang="en-US" sz="960" dirty="0"/>
          </a:p>
        </p:txBody>
      </p:sp>
      <p:sp>
        <p:nvSpPr>
          <p:cNvPr id="8" name="Shape 3"/>
          <p:cNvSpPr/>
          <p:nvPr/>
        </p:nvSpPr>
        <p:spPr>
          <a:xfrm>
            <a:off x="5022000" y="4500000"/>
            <a:ext cx="648000" cy="32400"/>
          </a:xfrm>
          <a:prstGeom prst="rect">
            <a:avLst/>
          </a:prstGeom>
          <a:solidFill>
            <a:srgbClr val="CF1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20000" y="6660000"/>
            <a:ext cx="92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spc="340" kern="0" dirty="0">
                <a:solidFill>
                  <a:srgbClr val="8D8B8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SYDNEY  ·  AUSTRALIA</a:t>
            </a:r>
            <a:endParaRPr lang="en-US" sz="7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SPIRITHAUS — Box Label &amp; Artwork</dc:title>
  <dc:subject>PptxGenJS Presentation</dc:subject>
  <dc:creator>SPIRITHAUS</dc:creator>
  <cp:lastModifiedBy>SPIRITHAUS</cp:lastModifiedBy>
  <cp:revision>1</cp:revision>
  <dcterms:created xsi:type="dcterms:W3CDTF">2026-09-15T07:34:01Z</dcterms:created>
  <dcterms:modified xsi:type="dcterms:W3CDTF">2026-09-15T07:34:01Z</dcterms:modified>
</cp:coreProperties>
</file>